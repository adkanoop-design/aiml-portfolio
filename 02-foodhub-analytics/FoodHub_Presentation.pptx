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6" r:id="rId28"/>
    <p:sldId id="262" r:id="rId9"/>
    <p:sldId id="267" r:id="rId2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Nunito" pitchFamily="2" charset="0"/>
      <p:regular r:id="rId14"/>
      <p:bold r:id="rId15"/>
      <p:italic r:id="rId16"/>
      <p:boldItalic r:id="rId17"/>
    </p:embeddedFont>
    <p:embeddedFont>
      <p:font typeface="Nunito ExtraBold" pitchFamily="2" charset="0"/>
      <p:bold r:id="rId18"/>
      <p:boldItalic r:id="rId19"/>
    </p:embeddedFont>
    <p:embeddedFont>
      <p:font typeface="Nunito SemiBold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BA267F-57BB-4B82-9B38-EB87E1CD43B7}">
  <a:tblStyle styleId="{60BA267F-57BB-4B82-9B38-EB87E1CD43B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539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1.xml"/><Relationship Id="rId2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5500dede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8" name="Google Shape;128;g125500dede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5500dede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4" name="Google Shape;134;g125500dede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5500dede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125500dede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8" name="Google Shape;15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{60BA267F-57BB-4B82-9B38-EB87E1CD43B7}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11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5" b="1915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3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5" b="1915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{60BA267F-57BB-4B82-9B38-EB87E1CD43B7}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ctrTitle"/>
          </p:nvPr>
        </p:nvSpPr>
        <p:spPr>
          <a:xfrm>
            <a:off x="909377" y="1412050"/>
            <a:ext cx="7501093" cy="170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Nunito ExtraBold" pitchFamily="2" charset="0"/>
              </a:rPr>
              <a:t>FoodHub Order Data Analysis</a:t>
            </a:r>
            <a:br>
              <a:rPr lang="en-US" sz="4000" dirty="0"/>
            </a:br>
            <a:r>
              <a:rPr lang="en-US" sz="3500" dirty="0">
                <a:solidFill>
                  <a:schemeClr val="accent6">
                    <a:lumMod val="75000"/>
                  </a:schemeClr>
                </a:solidFill>
              </a:rPr>
              <a:t>Python Foundations Project</a:t>
            </a:r>
            <a:endParaRPr lang="en-US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6951D2-E482-34E4-5A1C-6769A80CF551}"/>
              </a:ext>
            </a:extLst>
          </p:cNvPr>
          <p:cNvSpPr txBox="1"/>
          <p:nvPr/>
        </p:nvSpPr>
        <p:spPr>
          <a:xfrm>
            <a:off x="909377" y="3655143"/>
            <a:ext cx="3783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Presented by: Anoop Krishnan | 25 May 2026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EE8C8-B0C1-CF0C-2570-7B8C136922D1}"/>
              </a:ext>
            </a:extLst>
          </p:cNvPr>
          <p:cNvSpPr txBox="1"/>
          <p:nvPr/>
        </p:nvSpPr>
        <p:spPr>
          <a:xfrm>
            <a:off x="909377" y="3200400"/>
            <a:ext cx="659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Nunito" pitchFamily="2" charset="0"/>
              </a:rPr>
              <a:t>AI &amp; ML Business Applications UT Austin – Great Learning</a:t>
            </a:r>
            <a:endParaRPr lang="en-IN" sz="1800" b="1" dirty="0">
              <a:solidFill>
                <a:schemeClr val="accent6">
                  <a:lumMod val="75000"/>
                </a:schemeClr>
              </a:solidFill>
              <a:latin typeface="Nunito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Executive Summary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Business Problem Overview and Solution Approach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Data Overview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EDA - Univariate Analysis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EDA - Multivariate Analysis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Appendix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9" name="Google Shape;119;p2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50" dirty="0" b="1">
                <a:solidFill>
                  <a:srgbClr val="0B2E5E"/>
                </a:solidFill>
              </a:rPr>
              <a:t>CONCLUSIONS  (Q17)</a:t>
            </a:r>
          </a:p>
          <a:p>
            <a:r>
              <a:rPr lang="en-US" sz="500" dirty="0"/>
              <a:t/>
            </a:r>
          </a:p>
          <a:p>
            <a:r>
              <a:rPr lang="en-US" sz="1000" dirty="0"/>
              <a:t>American (31%) &amp; Japanese (25%) cuisines dominate - Top 3 cuisines account for 71% of all orders</a:t>
            </a:r>
          </a:p>
          <a:p>
            <a:r>
              <a:rPr lang="en-US" sz="1000" dirty="0"/>
              <a:t>71.2% of orders are on weekends (1,351 of 1,898) - FoodHub is primarily a weekend service</a:t>
            </a:r>
          </a:p>
          <a:p>
            <a:r>
              <a:rPr lang="en-US" sz="1000" dirty="0"/>
              <a:t>Only 29.24% of orders exceed $20, yet these generate ~60% of net commission revenue ($3,689 of $6,166)</a:t>
            </a:r>
          </a:p>
          <a:p>
            <a:r>
              <a:rPr lang="en-US" sz="1000" dirty="0"/>
              <a:t>38.78% of orders (736) are unrated -major customer-retention and feedback gap</a:t>
            </a:r>
          </a:p>
          <a:p>
            <a:r>
              <a:rPr lang="en-US" sz="1000" dirty="0"/>
              <a:t>Cost, prep time and delivery time are uncorrelated (max r = 0.04) -each is an independent driver</a:t>
            </a:r>
          </a:p>
          <a:p>
            <a:r>
              <a:rPr lang="en-US" sz="1000" dirty="0"/>
              <a:t>Weekday delivery averages 28.34 min vs 22.47 min on weekends -26% slower despite lower order volume</a:t>
            </a:r>
          </a:p>
          <a:p>
            <a:r>
              <a:rPr lang="en-US" sz="1000" dirty="0"/>
              <a:t>10.54% of orders (200) exceed 60 min total time (prep + delivery) -clear SLA risk</a:t>
            </a:r>
          </a:p>
          <a:p>
            <a:r>
              <a:rPr lang="en-US" sz="500" dirty="0"/>
              <a:t/>
            </a:r>
          </a:p>
          <a:p>
            <a:r>
              <a:rPr lang="en-US" sz="1150" dirty="0" b="1">
                <a:solidFill>
                  <a:srgbClr val="0B2E5E"/>
                </a:solidFill>
              </a:rPr>
              <a:t>RECOMMENDATIONS  (Q17)</a:t>
            </a:r>
          </a:p>
          <a:p>
            <a:r>
              <a:rPr lang="en-US" sz="500" dirty="0"/>
              <a:t/>
            </a:r>
          </a:p>
          <a:p>
            <a:r>
              <a:rPr lang="en-US" sz="1000" dirty="0"/>
              <a:t>Scale weekend staffing for American &amp; Japanese restaurants to match demand without sacrificing speed</a:t>
            </a:r>
          </a:p>
          <a:p>
            <a:r>
              <a:rPr lang="en-US" sz="1000" dirty="0"/>
              <a:t>Add post-order push-notification prompts to close the 38.78% unrated-order gap</a:t>
            </a:r>
          </a:p>
          <a:p>
            <a:r>
              <a:rPr lang="en-US" sz="1000" dirty="0"/>
              <a:t>Introduce bundle / upsell deals to shift more orders above $20 and boost high-commission revenue</a:t>
            </a:r>
          </a:p>
          <a:p>
            <a:r>
              <a:rPr lang="en-US" sz="1000" dirty="0"/>
              <a:t>Feature and promote the 4 promo-eligible restaurants: Meatball Shop 4.51(*), Blue Ribbon FC 4.33(*),</a:t>
            </a:r>
          </a:p>
          <a:p>
            <a:r>
              <a:rPr lang="en-US" sz="1000" dirty="0"/>
              <a:t>   Shake Shack 4.28(*), Blue Ribbon Sushi 4.22(*) -all verified with &gt;50 rated orders</a:t>
            </a:r>
          </a:p>
          <a:p>
            <a:r>
              <a:rPr lang="en-US" sz="1000" dirty="0"/>
              <a:t>Fix weekday delivery lag -route optimisation &amp; dynamic dispatch to bring avg below 25 min</a:t>
            </a:r>
          </a:p>
          <a:p>
            <a:r>
              <a:rPr lang="en-US" sz="1000" dirty="0"/>
              <a:t>Implement 55-min total-time alert + priority dispatch to reduce 60+ min orders below 5%</a:t>
            </a:r>
          </a:p>
          <a:p>
            <a:r>
              <a:rPr lang="en-US" sz="1000" dirty="0"/>
              <a:t>Expand loyalty rewards to the top 50 frequent customers; automate 20% vouchers at 8+ orders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26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50" dirty="0" b="1">
                <a:solidFill>
                  <a:srgbClr val="0B2E5E"/>
                </a:solidFill>
              </a:rPr>
              <a:t>PROBLEM STATEMENT</a:t>
            </a:r>
          </a:p>
          <a:p>
            <a:r>
              <a:rPr lang="en-US" sz="500" dirty="0"/>
              <a:t/>
            </a:r>
          </a:p>
          <a:p>
            <a:r>
              <a:rPr lang="en-US" sz="1000" dirty="0"/>
              <a:t>FoodHub is a food-aggregator app operating in New York City that connects customers to restaurants via a single smartphone platform. The company earns revenue through fixed commissions: 25% on orders &gt;$20, 15% on orders $5-$20, and 0% on orders &lt;=$5. As order volume grows, the data science team must analyse historical order data to understand demand patterns, improve customer experience, and optimise revenue.</a:t>
            </a:r>
          </a:p>
          <a:p>
            <a:r>
              <a:rPr lang="en-US" sz="600" dirty="0"/>
              <a:t/>
            </a:r>
          </a:p>
          <a:p>
            <a:r>
              <a:rPr lang="en-US" sz="1150" dirty="0" b="1">
                <a:solidFill>
                  <a:srgbClr val="0B2E5E"/>
                </a:solidFill>
              </a:rPr>
              <a:t>SOLUTION APPROACH  -  5-STEP EDA PIPELINE</a:t>
            </a:r>
          </a:p>
          <a:p>
            <a:r>
              <a:rPr lang="en-US" sz="500" dirty="0"/>
              <a:t/>
            </a:r>
          </a:p>
          <a:p>
            <a:r>
              <a:rPr lang="en-US" sz="1000" dirty="0"/>
              <a:t>Step 1 - Load Data      : Read CSV (1,898 rows x 9 columns) into a pandas DataFrame</a:t>
            </a:r>
          </a:p>
          <a:p>
            <a:r>
              <a:rPr lang="en-US" sz="1000" dirty="0"/>
              <a:t>Step 2 - Clean Data     : Identify 'Not given' ratings as hidden NaN; verify no other missing values</a:t>
            </a:r>
          </a:p>
          <a:p>
            <a:r>
              <a:rPr lang="en-US" sz="1000" dirty="0"/>
              <a:t>Step 3 - Univariate EDA : Explore distributions of all 9 variables individually (Q6-Q11)</a:t>
            </a:r>
          </a:p>
          <a:p>
            <a:r>
              <a:rPr lang="en-US" sz="1000" dirty="0"/>
              <a:t>Step 4 - Multivariate   : Analyse relationships &amp; cross-variable patterns (Q12-Q16)</a:t>
            </a:r>
          </a:p>
          <a:p>
            <a:r>
              <a:rPr lang="en-US" sz="1000" dirty="0"/>
              <a:t>Step 5 - Business Insights : Derive data-driven conclusions &amp; actionable recommendations (Q17)</a:t>
            </a:r>
          </a:p>
          <a:p>
            <a:r>
              <a:rPr lang="en-US" sz="600" dirty="0"/>
              <a:t/>
            </a:r>
          </a:p>
          <a:p>
            <a:r>
              <a:rPr lang="en-US" sz="1150" dirty="0" b="1">
                <a:solidFill>
                  <a:srgbClr val="0B2E5E"/>
                </a:solidFill>
              </a:rPr>
              <a:t>TOOLS USED</a:t>
            </a:r>
          </a:p>
          <a:p>
            <a:r>
              <a:rPr lang="en-US" sz="500" dirty="0"/>
              <a:t/>
            </a:r>
          </a:p>
          <a:p>
            <a:r>
              <a:rPr lang="en-US" sz="1000" dirty="0"/>
              <a:t>Python 3  |  pandas &amp; numpy  |  matplotlib &amp; seaborn  |  Google Colab (Jupyter)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Overview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27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50" dirty="0" b="1">
                <a:solidFill>
                  <a:srgbClr val="0B2E5E"/>
                </a:solidFill>
              </a:rPr>
              <a:t>Q1 - DATASET SHAPE: 1,898 rows × 9 columns  (each row = one unique food order)</a:t>
            </a:r>
          </a:p>
          <a:p>
            <a:r>
              <a:rPr lang="en-US" sz="500" dirty="0"/>
              <a:t/>
            </a:r>
          </a:p>
          <a:p>
            <a:r>
              <a:rPr lang="en-US" sz="1100" dirty="0" b="1">
                <a:solidFill>
                  <a:srgbClr val="0B2E5E"/>
                </a:solidFill>
              </a:rPr>
              <a:t>Q2 - DATA TYPES</a:t>
            </a:r>
          </a:p>
          <a:p>
            <a:r>
              <a:rPr lang="en-US" sz="1000" dirty="0"/>
              <a:t>  int64   : order_id, customer_id, food_preparation_time, delivery_time</a:t>
            </a:r>
          </a:p>
          <a:p>
            <a:r>
              <a:rPr lang="en-US" sz="1000" dirty="0"/>
              <a:t>  float64 : cost_of_the_order</a:t>
            </a:r>
          </a:p>
          <a:p>
            <a:r>
              <a:rPr lang="en-US" sz="1000" dirty="0"/>
              <a:t>  object  : restaurant_name, cuisine_type, day_of_the_week, rating</a:t>
            </a:r>
          </a:p>
          <a:p>
            <a:r>
              <a:rPr lang="en-US" sz="500" dirty="0"/>
              <a:t/>
            </a:r>
          </a:p>
          <a:p>
            <a:r>
              <a:rPr lang="en-US" sz="1100" dirty="0" b="1">
                <a:solidFill>
                  <a:srgbClr val="0B2E5E"/>
                </a:solidFill>
              </a:rPr>
              <a:t>Q3 - MISSING VALUES</a:t>
            </a:r>
          </a:p>
          <a:p>
            <a:r>
              <a:rPr lang="en-US" sz="1000" dirty="0"/>
              <a:t>  No standard NaN values in any column. However, the 'rating' column contains 736 entries labelled</a:t>
            </a:r>
          </a:p>
          <a:p>
            <a:r>
              <a:rPr lang="en-US" sz="1000" dirty="0"/>
              <a:t>  'Not given' -a hidden missing value. These were replaced with NaN for correct numeric analysis.</a:t>
            </a:r>
          </a:p>
          <a:p>
            <a:r>
              <a:rPr lang="en-US" sz="1000" dirty="0"/>
              <a:t>  &gt;&gt; 736 of 1,898 orders (38.78%) have no customer rating.</a:t>
            </a:r>
          </a:p>
          <a:p>
            <a:r>
              <a:rPr lang="en-US" sz="500" dirty="0"/>
              <a:t/>
            </a:r>
          </a:p>
          <a:p>
            <a:r>
              <a:rPr lang="en-US" sz="1100" dirty="0" b="1">
                <a:solidFill>
                  <a:srgbClr val="0B2E5E"/>
                </a:solidFill>
              </a:rPr>
              <a:t>Q4 - DESCRIPTIVE STATISTICS</a:t>
            </a:r>
          </a:p>
          <a:p>
            <a:r>
              <a:rPr lang="en-US" sz="1000" dirty="0"/>
              <a:t>  cost_of_the_order   : Mean $16.50  |  Min $4.47  |  Max $35.41  (right-skewed, median $14.14)</a:t>
            </a:r>
          </a:p>
          <a:p>
            <a:r>
              <a:rPr lang="en-US" sz="1000" dirty="0"/>
              <a:t>  food_preparation_time: Mean 27.37 min  |  Range 20–35 min  (near-uniform distribution)</a:t>
            </a:r>
          </a:p>
          <a:p>
            <a:r>
              <a:rPr lang="en-US" sz="1000" dirty="0"/>
              <a:t>  delivery_time        : Mean 24.16 min  |  Range 15–33 min</a:t>
            </a:r>
          </a:p>
          <a:p>
            <a:r>
              <a:rPr lang="en-US" sz="500" dirty="0"/>
              <a:t/>
            </a:r>
          </a:p>
          <a:p>
            <a:r>
              <a:rPr lang="en-US" sz="1100" dirty="0" b="1">
                <a:solidFill>
                  <a:srgbClr val="0B2E5E"/>
                </a:solidFill>
              </a:rPr>
              <a:t>Q5 - UNRATED ORDERS</a:t>
            </a:r>
          </a:p>
          <a:p>
            <a:r>
              <a:rPr lang="en-US" sz="1000" dirty="0"/>
              <a:t>  736 orders (38.78%) have rating = 'Not given'. Treating these as NaN ensures accurate</a:t>
            </a:r>
          </a:p>
          <a:p>
            <a:r>
              <a:rPr lang="en-US" sz="1000" dirty="0"/>
              <a:t>  mean/median calculations and avoids inflating or deflating the average customer 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Univariate Analysis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7" name="Google Shape;137;p28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00" dirty="0"/>
              <a:t/>
            </a:r>
          </a:p>
        </p:txBody>
      </p:sp>
      <p:pic>
        <p:nvPicPr>
          <p:cNvPr id="138" name="Picture 137" descr="chart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55" y="914400"/>
            <a:ext cx="3394793" cy="1399031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201168" y="2368296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01168" y="237743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Q6 - Distribution of Cuisine Types</a:t>
            </a:r>
          </a:p>
        </p:txBody>
      </p:sp>
      <p:pic>
        <p:nvPicPr>
          <p:cNvPr id="141" name="Picture 140" descr="chart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290" y="914400"/>
            <a:ext cx="2123658" cy="1399031"/>
          </a:xfrm>
          <a:prstGeom prst="rect">
            <a:avLst/>
          </a:prstGeom>
        </p:spPr>
      </p:pic>
      <p:sp>
        <p:nvSpPr>
          <p:cNvPr id="142" name="Rectangle 141"/>
          <p:cNvSpPr/>
          <p:nvPr/>
        </p:nvSpPr>
        <p:spPr>
          <a:xfrm>
            <a:off x="4517136" y="2368296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517136" y="237743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Q7 - Distribution of Customer Ratings</a:t>
            </a:r>
          </a:p>
        </p:txBody>
      </p:sp>
      <p:pic>
        <p:nvPicPr>
          <p:cNvPr id="144" name="Picture 143" descr="chart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96" y="2606040"/>
            <a:ext cx="3773311" cy="1399031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xfrm>
            <a:off x="201168" y="4059935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01168" y="406907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Q8 - Order Cost Distribution &amp; Spread</a:t>
            </a:r>
          </a:p>
        </p:txBody>
      </p:sp>
      <p:pic>
        <p:nvPicPr>
          <p:cNvPr id="147" name="Picture 146" descr="chart_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273" y="2606040"/>
            <a:ext cx="1681693" cy="1399031"/>
          </a:xfrm>
          <a:prstGeom prst="rect">
            <a:avLst/>
          </a:prstGeom>
        </p:spPr>
      </p:pic>
      <p:sp>
        <p:nvSpPr>
          <p:cNvPr id="148" name="Rectangle 147"/>
          <p:cNvSpPr/>
          <p:nvPr/>
        </p:nvSpPr>
        <p:spPr>
          <a:xfrm>
            <a:off x="4517136" y="4059935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17136" y="406907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Q9 - Orders Costing More Than $20 (29.24%)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01168" y="4306824"/>
            <a:ext cx="8631936" cy="256032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74320" y="4315968"/>
            <a:ext cx="84856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Key Findings:  American (584) &amp; Japanese (470) lead orders  ·  Shake Shack #1 with 219 orders  ·  51.6% of rated orders = 5(*)  ·  Only 29.24% of orders exceed $20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Multivariate Analysis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p29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00" dirty="0"/>
              <a:t/>
            </a:r>
          </a:p>
        </p:txBody>
      </p:sp>
      <p:pic>
        <p:nvPicPr>
          <p:cNvPr id="144" name="Picture 143" descr="chart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401" y="914400"/>
            <a:ext cx="1547500" cy="1399031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xfrm>
            <a:off x="201168" y="2368296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01168" y="237743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Q12 - Correlation Heatmap: Cost, Prep &amp; Delivery</a:t>
            </a:r>
          </a:p>
        </p:txBody>
      </p:sp>
      <p:pic>
        <p:nvPicPr>
          <p:cNvPr id="147" name="Picture 146" descr="chart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087" y="914400"/>
            <a:ext cx="1970065" cy="1399031"/>
          </a:xfrm>
          <a:prstGeom prst="rect">
            <a:avLst/>
          </a:prstGeom>
        </p:spPr>
      </p:pic>
      <p:sp>
        <p:nvSpPr>
          <p:cNvPr id="148" name="Rectangle 147"/>
          <p:cNvSpPr/>
          <p:nvPr/>
        </p:nvSpPr>
        <p:spPr>
          <a:xfrm>
            <a:off x="4517136" y="2368296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17136" y="237743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Q12 - Order Cost: Weekday vs Weekend</a:t>
            </a:r>
          </a:p>
        </p:txBody>
      </p:sp>
      <p:pic>
        <p:nvPicPr>
          <p:cNvPr id="150" name="Picture 149" descr="chart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51" y="2606040"/>
            <a:ext cx="3547801" cy="1399031"/>
          </a:xfrm>
          <a:prstGeom prst="rect">
            <a:avLst/>
          </a:prstGeom>
        </p:spPr>
      </p:pic>
      <p:sp>
        <p:nvSpPr>
          <p:cNvPr id="151" name="Rectangle 150"/>
          <p:cNvSpPr/>
          <p:nvPr/>
        </p:nvSpPr>
        <p:spPr>
          <a:xfrm>
            <a:off x="201168" y="4059935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01168" y="406907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Q13 - Restaurants Eligible for Promotion</a:t>
            </a:r>
          </a:p>
        </p:txBody>
      </p:sp>
      <p:pic>
        <p:nvPicPr>
          <p:cNvPr id="153" name="Picture 152" descr="chart_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0087" y="2606040"/>
            <a:ext cx="1970065" cy="1399031"/>
          </a:xfrm>
          <a:prstGeom prst="rect">
            <a:avLst/>
          </a:prstGeom>
        </p:spPr>
      </p:pic>
      <p:sp>
        <p:nvSpPr>
          <p:cNvPr id="154" name="Rectangle 153"/>
          <p:cNvSpPr/>
          <p:nvPr/>
        </p:nvSpPr>
        <p:spPr>
          <a:xfrm>
            <a:off x="4517136" y="4059935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517136" y="406907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Q14 - Revenue by Commission Tier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01168" y="4306824"/>
            <a:ext cx="8631936" cy="256032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74320" y="4315968"/>
            <a:ext cx="84856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Key Findings:  Near-zero correlations between all 3 numeric variables  ·  Weekday delivery 28.34 min vs 22.47 min weekend  ·  4 restaurants qualify for promotion  ·  Net revenue = $6,166.30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>
            <a:spLocks noGrp="1"/>
          </p:cNvSpPr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 b="1">
                <a:solidFill>
                  <a:srgbClr val="0B2E5E"/>
                </a:solidFill>
              </a:rPr>
              <a:t>Appendix - Supplementary Analysis &amp; Data Reference</a:t>
            </a:r>
          </a:p>
        </p:txBody>
      </p:sp>
      <p:sp>
        <p:nvSpPr>
          <p:cNvPr id="154" name="Google Shape;154;p31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800" dirty="0"/>
              <a:t/>
            </a:r>
          </a:p>
        </p:txBody>
      </p:sp>
      <p:pic>
        <p:nvPicPr>
          <p:cNvPr id="155" name="Picture 154" descr="chart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658" y="914400"/>
            <a:ext cx="1742987" cy="1152144"/>
          </a:xfrm>
          <a:prstGeom prst="rect">
            <a:avLst/>
          </a:prstGeom>
        </p:spPr>
      </p:pic>
      <p:sp>
        <p:nvSpPr>
          <p:cNvPr id="156" name="Rectangle 155"/>
          <p:cNvSpPr/>
          <p:nvPr/>
        </p:nvSpPr>
        <p:spPr>
          <a:xfrm>
            <a:off x="201168" y="2121408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01168" y="2130551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Q6 (Supp.) - Orders by Day of Week: Weekend vs Weekday</a:t>
            </a:r>
          </a:p>
        </p:txBody>
      </p:sp>
      <p:pic>
        <p:nvPicPr>
          <p:cNvPr id="158" name="Picture 157" descr="chart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403" y="914400"/>
            <a:ext cx="3107433" cy="1152144"/>
          </a:xfrm>
          <a:prstGeom prst="rect">
            <a:avLst/>
          </a:prstGeom>
        </p:spPr>
      </p:pic>
      <p:sp>
        <p:nvSpPr>
          <p:cNvPr id="159" name="Rectangle 158"/>
          <p:cNvSpPr/>
          <p:nvPr/>
        </p:nvSpPr>
        <p:spPr>
          <a:xfrm>
            <a:off x="4517136" y="2121408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17136" y="2130551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Q10 (Supp.) - Food Preparation Time Distribution</a:t>
            </a:r>
          </a:p>
        </p:txBody>
      </p:sp>
      <p:pic>
        <p:nvPicPr>
          <p:cNvPr id="161" name="Picture 160" descr="chart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729" y="2359152"/>
            <a:ext cx="3030844" cy="1152144"/>
          </a:xfrm>
          <a:prstGeom prst="rect">
            <a:avLst/>
          </a:prstGeom>
        </p:spPr>
      </p:pic>
      <p:sp>
        <p:nvSpPr>
          <p:cNvPr id="162" name="Rectangle 161"/>
          <p:cNvSpPr/>
          <p:nvPr/>
        </p:nvSpPr>
        <p:spPr>
          <a:xfrm>
            <a:off x="201168" y="3566159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01168" y="3575303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Q12 (Supp.) - Order Cost by Cuisine Type</a:t>
            </a:r>
          </a:p>
        </p:txBody>
      </p:sp>
      <p:pic>
        <p:nvPicPr>
          <p:cNvPr id="164" name="Picture 163" descr="chart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9697" y="2359152"/>
            <a:ext cx="3030844" cy="1152144"/>
          </a:xfrm>
          <a:prstGeom prst="rect">
            <a:avLst/>
          </a:prstGeom>
        </p:spPr>
      </p:pic>
      <p:sp>
        <p:nvSpPr>
          <p:cNvPr id="165" name="Rectangle 164"/>
          <p:cNvSpPr/>
          <p:nvPr/>
        </p:nvSpPr>
        <p:spPr>
          <a:xfrm>
            <a:off x="4517136" y="3566159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517136" y="3575303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Q12 (Supp.) - Customer Rating by Cuisine Type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01168" y="3822191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B2E5E"/>
                </a:solidFill>
              </a:rPr>
              <a:t>Data Dictionary</a:t>
            </a:r>
          </a:p>
          <a:p>
            <a:r>
              <a:rPr sz="800" b="0">
                <a:solidFill>
                  <a:srgbClr val="1A1A2E"/>
                </a:solidFill>
              </a:rPr>
              <a:t>order_id (int)  |  customer_id (int)  |  restaurant_name (str)  |  cuisine_type (str)  |  cost_of_the_order (float, USD)  |  day_of_the_week (str: Weekend/Weekday)  |  rating (str -&gt; NaN if 'Not given')  |  food_preparation_time (int, min)  |  delivery_time (int, min)</a:t>
            </a:r>
          </a:p>
          <a:p>
            <a:r>
              <a:rPr sz="800" b="0">
                <a:solidFill>
                  <a:srgbClr val="1A1A2E"/>
                </a:solidFill>
              </a:rPr>
              <a:t>Tools &amp; Environment:  Python 3  |  pandas  |  numpy  |  matplotlib  |  seaborn  |  Google Colab  |  Dataset: 1,898 rows x 9 columns  |  Source: FoodHub order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162" name="Google Shape;162;p32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b="1">
                <a:solidFill>
                  <a:srgbClr val="0B2E5E"/>
                </a:solidFill>
              </a:rPr>
              <a:t>Univariate Analysis (continued - Q8-Q11)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char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37" y="914400"/>
            <a:ext cx="3776028" cy="13990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2368296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37743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Q10 - Delivery Time Distribution</a:t>
            </a:r>
          </a:p>
        </p:txBody>
      </p:sp>
      <p:pic>
        <p:nvPicPr>
          <p:cNvPr id="7" name="Picture 6" descr="chart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239" y="914400"/>
            <a:ext cx="2823760" cy="139903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17136" y="2368296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37743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Q11 - Top 5 Restaurants by Order Count</a:t>
            </a:r>
          </a:p>
        </p:txBody>
      </p:sp>
      <p:pic>
        <p:nvPicPr>
          <p:cNvPr id="10" name="Picture 9" descr="chart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71" y="2606040"/>
            <a:ext cx="2823760" cy="139903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01168" y="4059935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406907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Q6 (Extra) - Most Popular Cuisines on Weekends</a:t>
            </a:r>
          </a:p>
        </p:txBody>
      </p:sp>
      <p:pic>
        <p:nvPicPr>
          <p:cNvPr id="13" name="Picture 12" descr="chart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514" y="2606040"/>
            <a:ext cx="2475210" cy="139903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17136" y="4059935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406907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Q11 (Extra) - Top 3 Most Frequent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4306824"/>
            <a:ext cx="8631936" cy="256032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315968"/>
            <a:ext cx="84856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Key Findings:  Weekend orders 2.5× weekday volume  ·  American &amp; Japanese peak on weekends  ·  Mean cost $16.50  ·  Mean delivery 24.16 min  ·  Top customer #52832 placed 13 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b="1">
                <a:solidFill>
                  <a:srgbClr val="0B2E5E"/>
                </a:solidFill>
              </a:rPr>
              <a:t>Multivariate Analysis (continued - Q12, Q15-Q16)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chart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71" y="914400"/>
            <a:ext cx="2823760" cy="13990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2368296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37743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Q15 - Total Order Time Distribution (Prep + Delivery)</a:t>
            </a:r>
          </a:p>
        </p:txBody>
      </p:sp>
      <p:pic>
        <p:nvPicPr>
          <p:cNvPr id="7" name="Picture 6" descr="chart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28" y="914400"/>
            <a:ext cx="2255582" cy="139903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17136" y="2368296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37743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Q16 - Delivery Time: Weekday vs Weekend</a:t>
            </a:r>
          </a:p>
        </p:txBody>
      </p:sp>
      <p:pic>
        <p:nvPicPr>
          <p:cNvPr id="10" name="Picture 9" descr="chart_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360" y="2606040"/>
            <a:ext cx="2255582" cy="139903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01168" y="4059935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406907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Q12 (Extra) - Rating Distribution: Weekday vs Weekend</a:t>
            </a:r>
          </a:p>
        </p:txBody>
      </p:sp>
      <p:pic>
        <p:nvPicPr>
          <p:cNvPr id="13" name="Picture 12" descr="chart_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7328" y="2606040"/>
            <a:ext cx="2255582" cy="139903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17136" y="4059935"/>
            <a:ext cx="4315968" cy="182880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4069079"/>
            <a:ext cx="4315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Q12 (Extra) - Prep Time vs Delivery Time (Scatter)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4306824"/>
            <a:ext cx="8631936" cy="256032"/>
          </a:xfrm>
          <a:prstGeom prst="rect">
            <a:avLst/>
          </a:prstGeom>
          <a:solidFill>
            <a:srgbClr val="0B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315968"/>
            <a:ext cx="84856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Key Findings:  10.54% of orders exceed 60 min total time  ·  Mean total = 51.5 min  ·  Weekend orders receive higher 5(*) ratings  ·  No correlation between prep &amp; delivery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226</Words>
  <Application>Microsoft Office PowerPoint</Application>
  <PresentationFormat>On-screen Show (16:9)</PresentationFormat>
  <Paragraphs>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Nunito ExtraBold</vt:lpstr>
      <vt:lpstr>Arial</vt:lpstr>
      <vt:lpstr>Nunito</vt:lpstr>
      <vt:lpstr>Nunito SemiBold</vt:lpstr>
      <vt:lpstr>Calibri</vt:lpstr>
      <vt:lpstr>Just Logo</vt:lpstr>
      <vt:lpstr>Just Logo</vt:lpstr>
      <vt:lpstr>FoodHub Order Data Analysis Python Foundations Project</vt:lpstr>
      <vt:lpstr>Contents / Agenda</vt:lpstr>
      <vt:lpstr>Executive Summary </vt:lpstr>
      <vt:lpstr>Business Problem Overview and Solution Approach</vt:lpstr>
      <vt:lpstr>Data Overview</vt:lpstr>
      <vt:lpstr>Univariate Analysis</vt:lpstr>
      <vt:lpstr>Multivariate Analysis</vt:lpstr>
      <vt:lpstr>APPENDIX</vt:lpstr>
      <vt:lpstr>Slide Header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Anoop Krishnan</cp:lastModifiedBy>
  <cp:revision>2</cp:revision>
  <dcterms:modified xsi:type="dcterms:W3CDTF">2026-05-23T17:45:02Z</dcterms:modified>
</cp:coreProperties>
</file>